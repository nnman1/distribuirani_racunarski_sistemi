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4.xml.rels" ContentType="application/vnd.openxmlformats-package.relationships+xml"/>
  <Override PartName="/ppt/slides/_rels/slide23.xml.rels" ContentType="application/vnd.openxmlformats-package.relationships+xml"/>
  <Override PartName="/ppt/slides/_rels/slide60.xml.rels" ContentType="application/vnd.openxmlformats-package.relationships+xml"/>
  <Override PartName="/ppt/slides/_rels/slide56.xml.rels" ContentType="application/vnd.openxmlformats-package.relationships+xml"/>
  <Override PartName="/ppt/slides/_rels/slide30.xml.rels" ContentType="application/vnd.openxmlformats-package.relationships+xml"/>
  <Override PartName="/ppt/slides/_rels/slide47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55.xml.rels" ContentType="application/vnd.openxmlformats-package.relationships+xml"/>
  <Override PartName="/ppt/slides/_rels/slide27.xml.rels" ContentType="application/vnd.openxmlformats-package.relationships+xml"/>
  <Override PartName="/ppt/slides/_rels/slide38.xml.rels" ContentType="application/vnd.openxmlformats-package.relationships+xml"/>
  <Override PartName="/ppt/slides/_rels/slide49.xml.rels" ContentType="application/vnd.openxmlformats-package.relationships+xml"/>
  <Override PartName="/ppt/slides/_rels/slide9.xml.rels" ContentType="application/vnd.openxmlformats-package.relationships+xml"/>
  <Override PartName="/ppt/slides/_rels/slide21.xml.rels" ContentType="application/vnd.openxmlformats-package.relationships+xml"/>
  <Override PartName="/ppt/slides/_rels/slide29.xml.rels" ContentType="application/vnd.openxmlformats-package.relationships+xml"/>
  <Override PartName="/ppt/slides/_rels/slide15.xml.rels" ContentType="application/vnd.openxmlformats-package.relationships+xml"/>
  <Override PartName="/ppt/slides/_rels/slide53.xml.rels" ContentType="application/vnd.openxmlformats-package.relationships+xml"/>
  <Override PartName="/ppt/slides/_rels/slide48.xml.rels" ContentType="application/vnd.openxmlformats-package.relationships+xml"/>
  <Override PartName="/ppt/slides/_rels/slide51.xml.rels" ContentType="application/vnd.openxmlformats-package.relationships+xml"/>
  <Override PartName="/ppt/slides/_rels/slide17.xml.rels" ContentType="application/vnd.openxmlformats-package.relationships+xml"/>
  <Override PartName="/ppt/slides/_rels/slide52.xml.rels" ContentType="application/vnd.openxmlformats-package.relationships+xml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5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34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1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5.xml.rels" ContentType="application/vnd.openxmlformats-package.relationships+xml"/>
  <Override PartName="/ppt/slides/_rels/slide4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19.xml.rels" ContentType="application/vnd.openxmlformats-package.relationships+xml"/>
  <Override PartName="/ppt/slides/_rels/slide39.xml.rels" ContentType="application/vnd.openxmlformats-package.relationships+xml"/>
  <Override PartName="/ppt/slides/_rels/slide5.xml.rels" ContentType="application/vnd.openxmlformats-package.relationships+xml"/>
  <Override PartName="/ppt/slides/_rels/slide59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33.xml.rels" ContentType="application/vnd.openxmlformats-package.relationships+xml"/>
  <Override PartName="/ppt/slides/_rels/slide40.xml.rels" ContentType="application/vnd.openxmlformats-package.relationships+xml"/>
  <Override PartName="/ppt/slides/_rels/slide36.xml.rels" ContentType="application/vnd.openxmlformats-package.relationships+xml"/>
  <Override PartName="/ppt/slides/_rels/slide22.xml.rels" ContentType="application/vnd.openxmlformats-package.relationships+xml"/>
  <Override PartName="/ppt/slides/_rels/slide41.xml.rels" ContentType="application/vnd.openxmlformats-package.relationships+xml"/>
  <Override PartName="/ppt/slides/_rels/slide43.xml.rels" ContentType="application/vnd.openxmlformats-package.relationships+xml"/>
  <Override PartName="/ppt/slides/_rels/slide58.xml.rels" ContentType="application/vnd.openxmlformats-package.relationships+xml"/>
  <Override PartName="/ppt/slides/_rels/slide28.xml.rels" ContentType="application/vnd.openxmlformats-package.relationships+xml"/>
  <Override PartName="/ppt/slides/_rels/slide42.xml.rels" ContentType="application/vnd.openxmlformats-package.relationships+xml"/>
  <Override PartName="/ppt/slides/_rels/slide44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60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49.xml" ContentType="application/vnd.openxmlformats-officedocument.presentationml.slide+xml"/>
  <Override PartName="/ppt/slides/slide57.xml" ContentType="application/vnd.openxmlformats-officedocument.presentationml.slide+xml"/>
  <Override PartName="/ppt/slides/slide29.xml" ContentType="application/vnd.openxmlformats-officedocument.presentationml.slide+xml"/>
  <Override PartName="/ppt/slides/slide2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14.xml" ContentType="application/vnd.openxmlformats-officedocument.presentationml.slide+xml"/>
  <Override PartName="/ppt/slides/slide3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38.xml" ContentType="application/vnd.openxmlformats-officedocument.presentationml.slide+xml"/>
  <Override PartName="/ppt/slides/slide44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media/image13.png" ContentType="image/png"/>
  <Override PartName="/ppt/media/image18.png" ContentType="image/png"/>
  <Override PartName="/ppt/media/image12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17.png" ContentType="image/png"/>
  <Override PartName="/ppt/media/image9.png" ContentType="image/png"/>
  <Override PartName="/ppt/media/image6.png" ContentType="image/png"/>
  <Override PartName="/ppt/media/image1.png" ContentType="image/png"/>
  <Override PartName="/ppt/media/image10.png" ContentType="image/png"/>
  <Override PartName="/ppt/media/image16.png" ContentType="image/png"/>
  <Override PartName="/ppt/media/image3.png" ContentType="image/png"/>
  <Override PartName="/ppt/media/image2.png" ContentType="image/png"/>
  <Override PartName="/ppt/media/image11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CF48D6-8AE0-4113-811E-A5E3F0A2B6E9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57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2ABF8F-09E2-4A1F-AFA5-15D4EB202C4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C1D5CA-4B31-4443-92F1-A485972325F1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DAC55F-F7D2-4396-8C9B-4BCC130D888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5286A6-6F73-4760-A9A2-A4E9A580E8B3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171C33-420E-41EB-88C8-EDD46BB94A4C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6BFEC1-2754-4CAE-889B-CFCA4685250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8B6922-09AE-4761-8377-80AE7861498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C6735C-3952-49BB-8F9A-ACC52C5383F1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AAB0F5-4899-45F2-9646-AB470CF2E4F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21E50F-26A5-4344-AB14-07F7F3B8BD9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hyperlink" Target="https://docs.oracle.com/en/java/javase/11/docs/api/java.base/java/lang/Runtime.html" TargetMode="External"/><Relationship Id="rId2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Konkurentno programiranje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i distribuirani sistemi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-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sistem =&gt; više procesa komuniciraju jedan sa drugim kroz dijeljenu memoriju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-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Distribuirani sistem =&gt; računarski sistem koji sadrži više procesora povezanih računarskom mrežom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3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7B278F-0941-40D4-8A18-DA091AF5B55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i distribuirani sistemi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67" name="Google Shape;99;g38724ffde56_0_5" descr=""/>
          <p:cNvPicPr/>
          <p:nvPr/>
        </p:nvPicPr>
        <p:blipFill>
          <a:blip r:embed="rId1"/>
          <a:stretch/>
        </p:blipFill>
        <p:spPr>
          <a:xfrm>
            <a:off x="457200" y="2789280"/>
            <a:ext cx="3566160" cy="235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Google Shape;100;g38724ffde56_0_5" descr=""/>
          <p:cNvPicPr/>
          <p:nvPr/>
        </p:nvPicPr>
        <p:blipFill>
          <a:blip r:embed="rId2"/>
          <a:stretch/>
        </p:blipFill>
        <p:spPr>
          <a:xfrm>
            <a:off x="5467320" y="2134440"/>
            <a:ext cx="3219120" cy="34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3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C318C8-4211-475C-B41F-9B3210066C2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i distribuirani sistemi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imamo fizički sistem u kojem procesori dele memoriju, lako je simulirati poruke.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imamo fizički sistem u kojem su procesori povezani mrežom, moguće je simulirati deljenu memoriju.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hardverski sistem može da pokreće distribuirani softver i obrnuto.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43C336-E4E1-48D0-9358-1354E2F7841B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i distribuirani sistemi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Zašto sistem ne bi bio potpuno paralelan?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196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Skalabilnost: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Distribuirani sistemi su po prirodi mnogo skalabilniji od paralelnih sistema. U paralelnim sistemima deljena memorija postaje usko grlo kada se poveća broj procesora.</a:t>
            </a:r>
            <a:br>
              <a:rPr sz="1300"/>
            </a:b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196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Modularnost i heterogenost: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Distribuirani sistem je fleksibilniji jer se jedan procesor može lako dodati ili ukloniti. Štaviše, taj procesor može biti potpuno drugačijeg tipa od postojećih procesora.</a:t>
            </a:r>
            <a:br>
              <a:rPr sz="1300"/>
            </a:b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196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Deljenje podataka: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Distribuirani sistemi omogućavaju deljenje podataka, kao u distribuiranim bazama podataka. Tako više organizacija može deliti svoje podatke jedni sa drugima.</a:t>
            </a:r>
            <a:br>
              <a:rPr sz="1300"/>
            </a:b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196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Deljenje resursa: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Distribuirani sistemi omogućavaju deljenje resursa. Na primer, skup i specijalizovan procesor može biti deljen između više organizacija.</a:t>
            </a:r>
            <a:br>
              <a:rPr sz="1300"/>
            </a:b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196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Geografska struktura: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Geografska struktura aplikacije može biti po prirodi distribuirana. Mala propusnost komunikacionih kanala može primorati na lokalnu obradu. Ovo je naročito slučaj kod bežičnih mreža.</a:t>
            </a:r>
            <a:br>
              <a:rPr sz="1300"/>
            </a:b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196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Pouzdanost: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Distribuirani sistemi su pouzdaniji od paralelnih sistema jer kvar jednog računara ne utiče na dostupnost ostalih.</a:t>
            </a:r>
            <a:br>
              <a:rPr sz="1300"/>
            </a:b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5760" indent="-20700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Niska cena:</a:t>
            </a:r>
            <a:r>
              <a:rPr b="0" lang="en-US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Dostupnost mreža sa velikom propusnošću i jeftinih radnih stanica takođe pogoduje distribuiranom računarstvu iz ekonomskih razloga.</a:t>
            </a:r>
            <a:br>
              <a:rPr sz="1100"/>
            </a:b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sldNum" idx="3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4834E5-FB16-4E14-8D73-D83EF92ED95A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Paralelni i distribuirani sistemi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Zašto sistem ne bi bio samo distribuiran?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Obično je brže samo ažurirati dijeljenu memoriju nego poslati poruku drugom procesu.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22F9B9-BEDD-4332-8C14-94538B351EB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Kako će aplikacija biti organizovana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Programi se pišu koristeći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multithreaded distribuirane objekte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Aplikacija se sastoji od više „teških“ procesa (heavyweight), koji komuniciraju porukama ili udaljenim pozivima metoda.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Svaki težak proces sadrži mnogo „lakih“ procesa (lightweight) –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niti (threads)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Distribuirani sistem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kada postoji više procesa/niti koji dele podatke.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Paralelni sistem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 kada se fokusira na jedan proces sa više niti.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Distribuirani objekti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240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Logički jednostavniji, objektno-orijentisani pristup.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240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Podaci u udaljenim objektima dostupni su samo preko eksplicitnih poruka.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2400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Podržavaju </a:t>
            </a: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ponovnu upotrebu i jednostavnost dizajna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Multithreading u objektima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omogućava efikasnije servise (npr. servere).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" indent="-2984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Velike strukture podataka bolje je podeliti između više procesa radi efikasnosti.</a:t>
            </a:r>
            <a:br>
              <a:rPr sz="1100"/>
            </a:br>
            <a:r>
              <a:rPr b="0" lang="en-US" sz="1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321268-E1C9-450D-B2CA-FBB3B86DDCA9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Zahtjevi od distribuiranog sistema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1752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Otoprnost na padove: Sistem treba da nastavi rad u slučaju da dođe do greške na jednoj ili više komponenti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Transparentnost: Poželjno bi bilo da korisnik nije opterećen detaljima o distribuiranom sistemu.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Fleksibilnost: Mogućnost da komunicira sa drugim sistemima i servisima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Skalabilnost: Mogućnost dodavanja novih čvorova u sistem kako bi se povećale performanse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4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E04C88-9563-4993-A813-40EB6B2FDA1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Programi, procesi i niti (threadovi)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240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Program - skup instrukcija 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Pokretanjem programa kreira se jedan ili više procesa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Memorijsku sliku procesa predstavlja: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heap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371600" indent="-3240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stack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više “procesa” dijele adresni prostor za code i data sekciju onda govorimo o threadovima (nitima).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EFA726-D974-45D5-B475-6679927CC3B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Proces i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4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07F993-58C4-4DDC-8BEC-3B9A0AF85B4C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1" name="Google Shape;151;g38724ffde56_0_89" descr=""/>
          <p:cNvPicPr/>
          <p:nvPr/>
        </p:nvPicPr>
        <p:blipFill>
          <a:blip r:embed="rId1"/>
          <a:stretch/>
        </p:blipFill>
        <p:spPr>
          <a:xfrm>
            <a:off x="3314880" y="1733760"/>
            <a:ext cx="2514240" cy="36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Niti kontrole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 kontrole (thread) je sekvenca koraka koji se izvršavaju sukcesivno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 većini tradicionalnih programskih jezika postoji samo jedna nit kontrole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Kod višenitnog programiranja (multi-threading) se simultano izvršava više niti koje mogu imati neke zajedničke podatke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Od unikatnih resursa imaju poseban identifikator niti (engl. thread ID), posebnu vrijednost programskog brojača i poseban stek. Mnogi moderni softverski paketi su višenitni: programi za prikazivanje Web stranica, programi za obradu teksta itd.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Višenitni program se može izvršavati: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Konkurentno – ne pretpostavlja postojanje više procesora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Paralelno – pretpostavlja postojanje više procesora koji omogućavaju stvarni paralelizam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4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2FF1863-EA3A-4AFE-99F6-E2DCAB8BF92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Niti kontrole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8EA5C1-E88F-410A-904D-E6F140ED44B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8" name="Google Shape;166;g38724ffde56_0_96" descr=""/>
          <p:cNvPicPr/>
          <p:nvPr/>
        </p:nvPicPr>
        <p:blipFill>
          <a:blip r:embed="rId1"/>
          <a:stretch/>
        </p:blipFill>
        <p:spPr>
          <a:xfrm>
            <a:off x="1229400" y="2208600"/>
            <a:ext cx="6684840" cy="270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Prednosti višenitnih programa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Višenitna tehnika omogućava interaktivnim aplikacijama da nastave rad, čak i kada je dio programa blokiran ili izvršava neku dugotrajnu operaciju. 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 primjer, višenitni Web čitač može da nastavi interakciju s korisnikom u jednoj niti, dok druga nit simultano učitava neku veliku sliku sa Interneta, treća sljedeću sliku itd.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Ogleda se u dijeljenju prostora i resursa kao i uštedi vremena koje takođe drastično utiče na performanse. Niti dijele memoriju i sve ostale resurse koji pripadaju istom procesu.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Niti se mogu istovremeno izvršavati, svaka na različitom procesoru.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18432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4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1FEDA9-0846-4B01-A095-138BD5007E8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13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Process vs thread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Svaki proces se nalazi u posebnom memorijskom prostoru, tako da je komunikacija između procesa prilično složena i ograničena. Sa druge strane, niti dijele isti adresni prostor u okviru jednog procesa i komunikacija između njih je dosta jednostavnija u odnosu na komunikaciju između procesa. 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Radom sa više procesa upravlja operativni sistem, dok radom sa više niti upravlja Java okruženje.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50F4D0-3149-46D2-B456-CB658883B55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14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Kreiranje i kontrola rada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14440" indent="-514440">
              <a:lnSpc>
                <a:spcPct val="80000"/>
              </a:lnSpc>
              <a:buClr>
                <a:srgbClr val="000000"/>
              </a:buClr>
              <a:buFont typeface="Calibri"/>
              <a:buAutoNum type="arabicPeriod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Nasljeđivanjem klase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Nakon kreiranja, nit se može: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Konfigurisati (postavljanjem prioriteta, imena,...)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Pokrenuti (pozivom metode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start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start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aktivira novu nit kontrole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Okruženje (virtuelna mašina, tj. JVM thread scheduler) pokreće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metod aktivne niti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lnSpc>
                <a:spcPct val="8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Standardni metod </a:t>
            </a:r>
            <a:r>
              <a:rPr b="0" i="1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Thread.run() </a:t>
            </a: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ne radi ništa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treba da bude redefinisan u korisničkoj klasi koja nasljeđuje klasu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bi se direktno pozivao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metod, taj kod bi izvrsavala trenutna nit, jer nova nit ne bi bila dodijeljena JVM thread scheduler-u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se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niti zavši, završava se i izvršavanje te niti kontrole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ne može da baca izuzetke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ovog načina kreiranja niti je što je u Java-i dozvoljeno samo jednostruko nasljeđivanje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9B6E47-A342-49EA-A8E4-4B41E5BCF83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15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Kreiranje i kontrola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14440" indent="-514440">
              <a:lnSpc>
                <a:spcPct val="90000"/>
              </a:lnSpc>
              <a:buClr>
                <a:srgbClr val="000000"/>
              </a:buClr>
              <a:buFont typeface="Calibri"/>
              <a:buAutoNum type="arabicPeriod" startAt="2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Implementacija interfejsa </a:t>
            </a:r>
            <a:r>
              <a:rPr b="0" i="1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Runnable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Interfejs Runnable je apstrakcija koncepta aktivnog objekta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Aktivni objekat izvršava neki kod konkurentno sa drugim takvim objektima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Ovaj interfejs deklariše samo metod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Klasa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implementira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Runnable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Klasa u Java-i može implementirati više interfejsa, čime je problem kod prethodnog načina kreiranja niti riješen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se kreira objekat klase koja implementira interfejs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Runnable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potrebno je kreirani objekat proslijediti konstruktoru klase </a:t>
            </a:r>
            <a:r>
              <a:rPr b="0" i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1904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E3A765-9FEF-42B4-BD3A-0DFACE7BB6F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Zadaci: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91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Napisati Java klasu koja omogućava paralelnu pretragu u nizu celih brojeva. Klasa treba da obezbedi sledeću static metodu: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static int parallelSearch(int x, int[] A, int numThreads)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Ova metoda kreira onoliko niti koliko je određeno parametrom numThreads, deli niz A na isti broj delova i svakoj niti dodeljuje jedan deo niza da u njemu sekvencijalno traži vrednost x. Ako neka nit pronađe x, metoda vraća indeks i takav da je A[i] = x. U suprotnom, metoda vraća –1.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354967-8C97-4937-A8BE-5BA32F2ECC2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Zadaci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5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76293E-6A8C-4323-9915-06251CED40AC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Google Shape;209;g38724ffde56_0_112" descr=""/>
          <p:cNvPicPr/>
          <p:nvPr/>
        </p:nvPicPr>
        <p:blipFill>
          <a:blip r:embed="rId1"/>
          <a:stretch/>
        </p:blipFill>
        <p:spPr>
          <a:xfrm>
            <a:off x="1164600" y="1600200"/>
            <a:ext cx="7039440" cy="440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Konstruktori klase </a:t>
            </a:r>
            <a:r>
              <a:rPr b="0" i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Thread(Runnable cilj)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 konstruiše novu nit koja koristi metod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run()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objekta na koji pokazuje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cilj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Thread(Runnable cilj, String ime) -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isto kao i gornji, uz specificiranje imena niti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Thread(ThreadGroup grupa, Runnable cilj)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 konstruiše novu nit u specificiranoj grupi niti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13968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5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2DE30C-CF8C-4DD0-9BB5-056B5EC3FBA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Metode u klasi </a:t>
            </a:r>
            <a:r>
              <a:rPr b="0" i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22;p10" descr=""/>
          <p:cNvPicPr/>
          <p:nvPr/>
        </p:nvPicPr>
        <p:blipFill>
          <a:blip r:embed="rId1"/>
          <a:stretch/>
        </p:blipFill>
        <p:spPr>
          <a:xfrm>
            <a:off x="684360" y="1268280"/>
            <a:ext cx="7851240" cy="533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2"/>
          <p:cNvSpPr>
            <a:spLocks noGrp="1"/>
          </p:cNvSpPr>
          <p:nvPr>
            <p:ph type="sldNum" idx="5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D4EA70-417D-4036-AFC4-D1579DCB46F9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Metode u klasi </a:t>
            </a:r>
            <a:r>
              <a:rPr b="0" i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29;p11" descr=""/>
          <p:cNvPicPr/>
          <p:nvPr/>
        </p:nvPicPr>
        <p:blipFill>
          <a:blip r:embed="rId1"/>
          <a:stretch/>
        </p:blipFill>
        <p:spPr>
          <a:xfrm>
            <a:off x="557280" y="1268280"/>
            <a:ext cx="8103960" cy="512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2"/>
          <p:cNvSpPr>
            <a:spLocks noGrp="1"/>
          </p:cNvSpPr>
          <p:nvPr>
            <p:ph type="sldNum" idx="5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8D978A-B6AB-441D-987C-8EF8A95ACDC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Metode u klasi </a:t>
            </a:r>
            <a:r>
              <a:rPr b="0" i="1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6;p12" descr=""/>
          <p:cNvPicPr/>
          <p:nvPr/>
        </p:nvPicPr>
        <p:blipFill>
          <a:blip r:embed="rId1"/>
          <a:stretch/>
        </p:blipFill>
        <p:spPr>
          <a:xfrm>
            <a:off x="250920" y="1595520"/>
            <a:ext cx="8679960" cy="46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2"/>
          <p:cNvSpPr>
            <a:spLocks noGrp="1"/>
          </p:cNvSpPr>
          <p:nvPr>
            <p:ph type="sldNum" idx="5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7CCE1E-152B-482E-A095-7DBAC5B1D19C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Završavanje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Preporučen način za eksplicitno zaustavljanje niti (umjesto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stop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 u nekoj petlji metode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run()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ispituje uslov kraja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nit utvrdi da je zadovoljen uslov kraja, sama završi metod run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F52258-4E39-43A3-837B-3EDC3B71E2E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16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Suspendovanje i reaktiviranje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 prvoj verziji jezika Java, niti su se mogle eksplicitno: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suspendovati (metod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suspend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reaktivirati (metod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resume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zaustaviti (metod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stop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Sva tri metoda su zastarjela i ne preporučuje se njihovo korišćenje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 se može samosuspendovati (uspavati) pomoću metode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sleep()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5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90B69D-BCBB-40E3-AFDA-465A726F7FC4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24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Životni ciklus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Google Shape;257;p9" descr=""/>
          <p:cNvPicPr/>
          <p:nvPr/>
        </p:nvPicPr>
        <p:blipFill>
          <a:blip r:embed="rId1"/>
          <a:stretch/>
        </p:blipFill>
        <p:spPr>
          <a:xfrm>
            <a:off x="755640" y="1341360"/>
            <a:ext cx="7919640" cy="500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2"/>
          <p:cNvSpPr>
            <a:spLocks noGrp="1"/>
          </p:cNvSpPr>
          <p:nvPr>
            <p:ph type="sldNum" idx="5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55C2F3-C188-465B-A5D8-ADB0E0813C3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24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Prekidanje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Niti se može poslati signal prekida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se za nit koja je u blokiranom stanju (metode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sleep, wait, join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 pozove metod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interrupt()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 se deblokira (izlazi iz metode u kojoj se blokirala)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Prekinuta nit prima izuzetak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InterruptedException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5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003A16-F8DE-4483-B1E4-57F45C8C8C9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24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Čekanje da druga nit završi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 može čekati da druga nit završi pozivom </a:t>
            </a:r>
            <a:r>
              <a:rPr b="0" i="1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join() </a:t>
            </a: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 druge niti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nit završi, njen objekat ne nestaje, tako da se može pristupiti njegovom stanju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Oblici metode </a:t>
            </a:r>
            <a:r>
              <a:rPr b="0" i="1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join: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</a:pPr>
            <a:r>
              <a:rPr b="0" i="1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join() throws InterruptedException 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- neogrančieno čekanje na određenu nit da završi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join(long ms) throws InterruptedException - čekanje na određenu nit da završi ili na istek zadatog vremena u milisekundama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5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B4E6C9-9C02-4478-9C8A-7A85B98A363C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27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Zadaci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Napisati program koji štampa poruku “You have 5 seconds to enter your name”. Nakon toga se očekuje od korisnika da unese ime. Ako korisnik ne unese ime u roku od 5s, ispisati poruku “Time is up” i prekinuti rad programa. Ako unese ime, ispisati poruku Hello imeKorisnika.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6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6134FC-58B1-43DE-8BF6-7782BA9770C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27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Prioriteti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 najvećeg prioriteta će se izvršavati i sve niti tog prioriteta će dobiti procesorsko vrijeme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Niti manjeg prioriteta: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garantovano se izvršavaju samo kada su niti većeg prioriteta blokirane</a:t>
            </a: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mogu se izvršavati i inače, ali se ne može računati na to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Prioritete treba koristiti samo da bi se uticalo na politiku raspoređivanja iz razloga efikasnosti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Korektnost algoritma ne smije biti zasnovana na prioritetima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6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5C1424-C6D1-4D81-9ED8-A71CE0807ED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29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Prioriteti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Inicijalno, nit ima prioritet niti koja ju je kreirala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Prioritet se može promijeniti koristeći: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threadObject.setPriority(value)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Vrijednosti su između: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Thread.MIN_PRIORITY 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Thread.MAX_PRIORITY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Standardan prioritet za podrazumijevanu nit je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Thread.NORM_PRIORITY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Prioritet niti koja se izvršava se može mijenjati u bilo kom trenutku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getPriority() vraća tekući prioritet niti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6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985BAF-1884-4D0F-BF8A-2BCD223904A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Race hazard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Dva procesa P1 i P2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Oba procesa izvršavaju x = x + 1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je početna vrijednost x = 0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Očekivana konačna vrijednost je x = 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operacije nisu atomične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6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F47B469-9974-45B5-B795-E614DA47368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Google Shape;301;g38c929beabe_1_0" descr=""/>
          <p:cNvPicPr/>
          <p:nvPr/>
        </p:nvPicPr>
        <p:blipFill>
          <a:blip r:embed="rId1"/>
          <a:stretch/>
        </p:blipFill>
        <p:spPr>
          <a:xfrm>
            <a:off x="1871640" y="4142880"/>
            <a:ext cx="5400360" cy="128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Race hazard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6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EF8F33E-CF4A-46B5-BA29-FEBF662036C3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Google Shape;309;g38c929beabe_1_7" descr=""/>
          <p:cNvPicPr/>
          <p:nvPr/>
        </p:nvPicPr>
        <p:blipFill>
          <a:blip r:embed="rId1"/>
          <a:stretch/>
        </p:blipFill>
        <p:spPr>
          <a:xfrm>
            <a:off x="514440" y="2500920"/>
            <a:ext cx="8115120" cy="277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Race hazard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Race hazard je efekat do kojeg dolazi kada dvije ili više niti mogu da modifikuju i čitaju iste podatke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Rješenje ovog problema je sinhronizacija niti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Sinhronizacija niti treba da obezbijedi samo jednoj niti ekskluzivan pristup podacima u određenom segmentu koda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6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410803-5E77-4DED-939C-EFE3E68B5618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Race hazard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Atomična operacija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- operacija koja se izvršava u potpunosti, bez mogućnosti da bude prekinuta ili delimično vidljiva drugim procesima.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6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F7EB4C-2632-4586-8885-73502ADD9A1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Sinhronizacija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Sinhronizacija zasnovana na bravi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6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9FCD10-7306-401B-A7B6-4DA4D0D9085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" name="Google Shape;331;g38c929beabe_1_21" descr=""/>
          <p:cNvPicPr/>
          <p:nvPr/>
        </p:nvPicPr>
        <p:blipFill>
          <a:blip r:embed="rId1"/>
          <a:stretch/>
        </p:blipFill>
        <p:spPr>
          <a:xfrm>
            <a:off x="1018800" y="2841480"/>
            <a:ext cx="7106040" cy="117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Petersonov Algoritam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Boolean promjenjiva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je false =&gt; program može da uđe u kritičnu sekciju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Char char="-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je true =&gt; program ne može da uđe u kritičnu sekciju dok ne postane true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6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281E82-48D6-49E1-834E-A0786A3E81B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Petersonov Algoritam (Pokusaj 1)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Provjera da li promjenjiva postavljena na true i postavljanje na false nije atomična operacija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6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53AFEC-5780-44BD-8324-C75B57B44D78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30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8" name="Google Shape;346;g38c955fc9a7_0_2" descr=""/>
          <p:cNvPicPr/>
          <p:nvPr/>
        </p:nvPicPr>
        <p:blipFill>
          <a:blip r:embed="rId1"/>
          <a:stretch/>
        </p:blipFill>
        <p:spPr>
          <a:xfrm>
            <a:off x="1566360" y="1600200"/>
            <a:ext cx="6010560" cy="213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Petersonov Algoritam (Pokusaj 2)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4002120"/>
            <a:ext cx="8229240" cy="212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Problem!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Moguće je da P0 postavi wantCS na true, i P1 postavi wantCS na true istovremeno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Dobijamo beskonačnu petlju.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7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DBFD73-BCF8-47DF-8D66-35E3D18501E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2" name="Google Shape;354;g38c955fc9a7_0_9" descr=""/>
          <p:cNvPicPr/>
          <p:nvPr/>
        </p:nvPicPr>
        <p:blipFill>
          <a:blip r:embed="rId1"/>
          <a:stretch/>
        </p:blipFill>
        <p:spPr>
          <a:xfrm>
            <a:off x="1295280" y="1600200"/>
            <a:ext cx="6552720" cy="225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Petersonov Algoritam (Pokusaj 3)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97160" y="3378600"/>
            <a:ext cx="8229240" cy="169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728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oba Procesa pokušaju da uđu u kritičnu sekciju jedan od njih će uspjeti da uđe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Samo jedan proces se može naći u kritičnoj sekciji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728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Problem!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2793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P1 nema potrebe da ulazi u kritičnu sekciju, P0 nikada neće moći da se izvrši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79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volatile - promjenjiva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2793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private volatile int turn;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27936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Više threadova će mijenjati ovu promjenjivu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30120">
              <a:lnSpc>
                <a:spcPct val="100000"/>
              </a:lnSpc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ne postavimo volatile, moguće je da promjene ostanu u registru, i ne budu sinhronizovane u radnu memoriju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7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AFF4CE-8A17-47A4-9B62-E0A4A5511AB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Google Shape;362;g38c955fc9a7_0_16" descr=""/>
          <p:cNvPicPr/>
          <p:nvPr/>
        </p:nvPicPr>
        <p:blipFill>
          <a:blip r:embed="rId1"/>
          <a:srcRect l="1957" t="9253" r="2568" b="10315"/>
          <a:stretch/>
        </p:blipFill>
        <p:spPr>
          <a:xfrm>
            <a:off x="1724040" y="1540800"/>
            <a:ext cx="5695200" cy="164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Petersonov Algoritam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7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6ABD5F-E372-41EF-8421-09D91DF5AA6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9" name="Google Shape;369;g38c955fc9a7_0_23" descr=""/>
          <p:cNvPicPr/>
          <p:nvPr/>
        </p:nvPicPr>
        <p:blipFill>
          <a:blip r:embed="rId1"/>
          <a:stretch/>
        </p:blipFill>
        <p:spPr>
          <a:xfrm>
            <a:off x="1325160" y="1606680"/>
            <a:ext cx="6493680" cy="328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Petersonov Algoritam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99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●"/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Međusobno isključivanje (</a:t>
            </a:r>
            <a:r>
              <a:rPr b="1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Mutual exclusion</a:t>
            </a: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): Dva procesa ne mogu biti istovremeno u kritičnoj sekciji.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99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Napredak (</a:t>
            </a:r>
            <a:r>
              <a:rPr b="1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Progress</a:t>
            </a: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): Ako jedan ili više procesa pokušavaju da uđu u kritičnu sekciju, a nijedan proces se trenutno ne nalazi u kritičnoj sekciji, tada bar jedan od tih procesa uspeva da uđe u kritičnu sekciju.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9996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Bez izgladnjivanja (</a:t>
            </a:r>
            <a:r>
              <a:rPr b="1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Starvation-freedom</a:t>
            </a:r>
            <a:r>
              <a:rPr b="0" lang="en-US" sz="2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): Ako proces pokušava da uđe u kritičnu sekciju, on će to na kraju i uspjeti.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EE9370-6932-4175-A213-873AEA4DF5FD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Lamportov Pekarski Algoritam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7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836DE9-6150-4786-A41C-7071D4EEB413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Google Shape;384;g38c955fc9a7_0_38" descr=""/>
          <p:cNvPicPr/>
          <p:nvPr/>
        </p:nvPicPr>
        <p:blipFill>
          <a:blip r:embed="rId1"/>
          <a:stretch/>
        </p:blipFill>
        <p:spPr>
          <a:xfrm>
            <a:off x="2191680" y="1600200"/>
            <a:ext cx="4760640" cy="5000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Lamportov Pekarski Algoritam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AutoNum type="arabicPeriod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Algoritam garantuje: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Mutual exclusion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Progress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914400" indent="-343080">
              <a:lnSpc>
                <a:spcPct val="100000"/>
              </a:lnSpc>
              <a:buClr>
                <a:srgbClr val="000000"/>
              </a:buClr>
              <a:buFont typeface="Arial"/>
              <a:buAutoNum type="alphaLcPeriod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Starvation-freedom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Algoritam ima složenost O(N) po procesu ako nema čekanja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Potrebno je koristiti time stampove za koje ne znamo koliko veliki mogu da postanu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6FFE78-B57B-4F96-A181-AFB1DF47F06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Sinhronizacija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Rješenje neizvjesnosti trke u Java-i postiže se sinhronizacijom zasnovanoj na bravi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Dok objektu pristupa jedna nit, objekat se zaključava da spriječi pristup druge niti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Modifikator metoda </a:t>
            </a: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synchronized</a:t>
            </a: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aktivira mehanizam pristupa preko brave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nit zaključa objekat  samo ta nit može da pristupa objektu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jedna nit pozove sinhronizovan metod objekta ona dobija ključ brave objekta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Druga nit koja pozove sinhronizovan metod istog objekta biće blokirana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Druga nit će se deblokirati tek kada prethodna nit napusti sinhronizovani metod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Konstruktor ne treba da bude sinhronizovan  jer se on izvršava u jednoj niti dok objekat još ne postoji pa mu druga nit ne može pristupiti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2160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B85800-5458-43C5-A537-DF41998BD36F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Primjer sinhronizacije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Klasa Racun je napisana da živi u okruženju sa više niti: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class Racun {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private double stanje;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Racun(double pocetniDepozit)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{ stanje = pocetniDepozit; }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synchronized double citajStanje()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{ return stanje; }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synchronized void promijeniStanje(double iznos)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{ stanje += iznos; }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80"/>
              </a:spcBef>
              <a:buNone/>
              <a:tabLst>
                <a:tab algn="l" pos="0"/>
              </a:tabLst>
            </a:pPr>
            <a:r>
              <a:rPr b="0" lang="en-US" sz="19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}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Sinhronizovan metod promijeniStanje obavlja get-modify-set sekvencu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5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više niti pristupaju objektu klase Racun konkurentno stanje objekta je uvek konzistentno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7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D0A34B-965D-45A6-A23B-D7CEBA3DBA0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Sinhronizacija statičkih metoda klase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Zajedničke metode klase rade nad bravom klase (ne bravom objekta)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Brava klase nema nikakav efekat na objekte te klase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jedna nit može da izvršava sinhronizovani statički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dok druga može da izvršava sinhronizovani nestatički metod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7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E28B69-E7CE-4A5A-81FC-674E6A350842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Sinhronizovane naredbe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Način sinhronizacije koda bez pozivanja sinhronizovanog metoda nekog objekta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Opšti oblik: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i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synchronized (izraz) naredba //naredba je obino blok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Sinhronizovana naredba zaključava objekat na koji upućuje rezultat </a:t>
            </a:r>
            <a:r>
              <a:rPr b="0" i="1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izraz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Primer: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zamjenjuje svaki element niza njegovom apsolutnom vrijednošću: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static void abs(int [] niz) {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synchronized (niz) {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for (int i=0; i&lt;niz.length; i++)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{if (niz[i]&lt;0) niz[i]=-niz[i];}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}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indent="0">
              <a:lnSpc>
                <a:spcPct val="80000"/>
              </a:lnSpc>
              <a:spcBef>
                <a:spcPts val="340"/>
              </a:spcBef>
              <a:buNone/>
              <a:tabLst>
                <a:tab algn="l" pos="0"/>
              </a:tabLst>
            </a:pPr>
            <a:r>
              <a:rPr b="0" lang="en-US" sz="17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}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7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8DC4E6-4666-4B72-84AC-2CF27F2AFDC0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Sinhronizacija i nasljeđivanje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se redefiniše metod u izvedenoj klasi: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osobina synchronized neće biti naslijeđena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redefinisani metod može biti sinhronizovan ili ne bez obzira na odgovarajući metod natklase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Novi nesinhronizovani metod neće ukinuti sinhronizovano ponašanje metoda natklase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novi nesinhronizovani metod koristi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super.m()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objekat će biti zaključan za vrijeme izvršavanja metoda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m()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natklase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8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6E0549-D800-43DE-8D81-E22FC5D26713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Korišćenje postojeće klase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Želimo da u okruženju sa više niti koristimo klasu koja je već projektovana za sekvencijalno izvršavanje u jednoj niti (ima nesinhronizovane metode)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Dva su moguća rješenja: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Kreirati izvedenu klasu sa sinhronizovanim redefinisanim metodama i prosleđivati pozive koristeći super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Koristiti sinhronizovanu naredbu za pristup objektu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0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Prvo rješenje je bolje jer ne dozvoljava da se zaboravi sinhronizacija naredbe za pristup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8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83A670-87FE-45F3-925F-92E1B65039F9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Komunikacija između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Komunikacija između niti se vrši korišćenjem metoda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wait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notify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wait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omogućava čekanje dok se neki uslov ne zadovolji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notify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javlja onima koji čekaju da se nešto dogodilo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Metodi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wait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notify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su definisani u klasi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Object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i nasljeđuju se u svim klasama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Pozivaju se samo iz sinhronizovanih metoda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8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B2C7B8-564A-4E12-B6DE-998A716FD22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Komunikacija između niti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wait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u atomičnoj (neprekidivoj) operaciji suspenduje nit i oslobađa bravu objekta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se nit ponovo pokrene nakon što je stigao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notify 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brava se ponovo zaključava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Test uslova treba uvek da bude u petlji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Metod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notify</a:t>
            </a: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budi samo jednu nit i to onu koja je najduže čekala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Za buđenje svih niti koje čekaju treba koristiti metod </a:t>
            </a:r>
            <a:r>
              <a:rPr b="0" i="1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notifyAll()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8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177DD4-F1B0-4F3C-BF75-5932F7563A1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Oblici funkcija wait i notify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wait(long ms)throws InterruptedException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 ms - vrijeme čekanja [ms]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 ms=0 . neograničeno čekanje signala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wait(long ms, int ns) throws InterruptedException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//ns - nanosekunde u opsegu 0-999999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wait() throws InterruptedException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 ekvivalent za wait(0)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notify()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 signalizira događaj (notifikuje) tačno jednu nit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 ne može se izabrati nit kojoj će biti poslat signal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public final void notifyAll()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// šalje se signal svim nitima koje čekaju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8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B3ACDE-DB69-48A8-BE09-2CACB271761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Runtime klasa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Runtime klasa se koristi za komunikaciju sa Java Runtime Environment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U njoj se nalaze metode za pozivanje drugih procesa, pozivanje garbage collector-a, itd.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Runtime je singleton klasa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Instaca se dobija pozivom metode getRuntime()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sng">
                <a:solidFill>
                  <a:schemeClr val="dk1"/>
                </a:solidFill>
                <a:effectLst/>
                <a:uFillTx/>
                <a:latin typeface="Calibri"/>
                <a:ea typeface="Calibri"/>
                <a:hlinkClick r:id="rId1"/>
              </a:rPr>
              <a:t>https://docs.oracle.com/en/java/javase/11/docs/api/java.base/java/lang/Runtime.html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8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606038-E868-4FC8-9314-3D4F2205FC87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 Pool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Idealno bi bilo da se svaki korisnički zahtjev dodijeli posebnom procesu (tredu) koji će ga obraditi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Ovakav pristup ima velike nedostatke: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Vrijeme potrebno za kreiranje i ubijanje ovih procesa je značajno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Može se prepuniti RAM i oboriti server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 Pool je grupa tredova koji opslužuju korisničke zahtjeve i mogu se iznova koristiti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8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985483-32D3-4F92-B383-350890E124F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 Pool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Kada dođe jedan zahtjev, bira se jedan tred iz ThreadPool-a koji ce ga obraditi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su svi tredovi zauzeti prilikom dolaska novog zahtjeva, taj zahtjev se smješta u red za čekanje i biće obrađen čim se neki od tredova oslobodi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Logika za opsluženje zahtjeva mora biti implementirana u klasama koje implementiraju interfejs Runnable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8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BB49596-69AA-4B6C-A638-FA9DCA32D0B3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Vrste Thread Pool-ova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Fixed Thread Pool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Ograničen broj tredova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Svi zahtjevi koji se ne mogu obraditi smještaju se u red za čekanje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ima previše zahtjeva i redova za čekanje, može se zagušiti memorija računara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Cached Thread Pool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Kreiraju se novi tredovi, ako su ostali zauzeti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Ovaj pool je na startu prazan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Maksimalni broj tredova je Integer.MAX_VALUE (ovo je izuzetno veliki broj tredova i moramo biti obazrivi)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Ako je tred neaktivan jedan minut, biće obrisan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Single Thread Pool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Ovaj pool ima samo jedan thread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Programer može kreirati sopstvenu vrstu Thread Pool-a ako nijedan od predefinisanih nije odgovarajući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8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2636BF-0FEC-4031-BD00-06513DC34736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Mogući problemi sa Thread Pool-ovima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Deadlock – kao i u svim multitreding programima ovo je odgovornost programera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 leakage – ako neki od tredova iz pool-a baci Exception koji nije hendlovan, taj tred se gubi iz pool-a i neće se moći koristiti, umjesto njega se kreira novi thread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Thread starvation - ako je broj tredova u pool-u veći nego što je stvarno potrebno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8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2427D9-6815-4BEC-B020-1F97E7ACED5E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proizvođač-potrošač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opisuje dva procesa, proizvođača i potrošača koji dijele zajednički bafer (implementiran kao red), fiksne veličine. Posao proizvođača je da generiše podatke i stavlja ih u bafer, a posao potrošača je da istovremeno uzima artikle iz bafera. Problem se sastoji u obezbjeđivanju da proizvođač ne doda artikal u puni bafer, a da potrošač ne pokuša da uzme artikal iz praznog bafera.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9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176706-71FC-4443-9702-48FAAC72E375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filozofa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N filozofa sjedi za okruglim stolom i obavljaju samo tri različite aktivnosti: razmišljaju, jedu i odmaraju. Na stolu se nalazi N tanjira sa beskonačnom količinom hrane i N viljuški (između svaka dva tanjira po jedna). Da bi mogao da jede filozofu su potrebne i viljuška sa lijeve i viljuška sa desne strane njegovog tanjira. Nakon što završi sa obrokom, filozof vraća viljuške na sto i određeno vrijeme provede u razmišljanju, nakon čega se opet vraća  da jede i tako u krug. Implementirati algoritam koji simulira opisanu situaciju i sprječava deadlock. Obavezno napisati klasu iz koje se pokreće simulacija. Štampati poruku kada filozof čeka da se oslobodi viljuška, kada filozof uzme određenu viljušku, kao i kada je oslobodi. Takođe, štampati poruku kada filozof jede, kada razmišlja i kada odmara. Svi vremenski intervali mogu biti uzeti proizvoljno.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9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5B71D5-E594-47C1-87FF-EE242DD9ED73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Problem mosta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Most sa jednom trakom povezuje dva grada. Automobili iz oba grada koriste taj most kako bi prešli u drugi grad. Most može postati blokiran ako se auta iz oba pravca istovremeno nađu na mostu. Napisati algoritam koji sprečava deadlock. (Jako čest problem, npr. u dijeljenim bazama podataka)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0" name="Google Shape;510;p35" descr=""/>
          <p:cNvPicPr/>
          <p:nvPr/>
        </p:nvPicPr>
        <p:blipFill>
          <a:blip r:embed="rId1"/>
          <a:stretch/>
        </p:blipFill>
        <p:spPr>
          <a:xfrm>
            <a:off x="1260360" y="4365720"/>
            <a:ext cx="6879960" cy="230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PlaceHolder 3"/>
          <p:cNvSpPr>
            <a:spLocks noGrp="1"/>
          </p:cNvSpPr>
          <p:nvPr>
            <p:ph type="sldNum" idx="9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634B9F-4ED4-4331-BC76-E7A824E5DFCC}" type="slidenum">
              <a:rPr b="0" lang="en-US" sz="1200" strike="noStrike" u="none">
                <a:solidFill>
                  <a:srgbClr val="898989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LibreOffice/25.8.2.2$Linux_X86_64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2017-04-04T07:19:07Z</dcterms:created>
  <dc:creator>Kole</dc:creator>
  <dc:description/>
  <dc:language>en-US</dc:language>
  <cp:lastModifiedBy/>
  <dcterms:modified xsi:type="dcterms:W3CDTF">2025-11-18T22:19:34Z</dcterms:modified>
  <cp:revision>1</cp:revision>
  <dc:subject/>
  <dc:title/>
</cp:coreProperties>
</file>